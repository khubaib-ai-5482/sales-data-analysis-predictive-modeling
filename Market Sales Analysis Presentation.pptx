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CF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</p:nvPr>
        </p:nvSpPr>
        <p:spPr>
          <a:xfrm>
            <a:off x="3551207" y="1122363"/>
            <a:ext cx="5736567" cy="2315714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>
          <a:xfrm>
            <a:off x="3723735" y="3602038"/>
            <a:ext cx="5564038" cy="1655762"/>
          </a:xfrm>
        </p:spPr>
        <p:txBody>
          <a:bodyPr/>
          <a:lstStyle/>
          <a:p>
            <a:endParaRPr lang="en-GB"/>
          </a:p>
        </p:txBody>
      </p:sp>
      <p:grpSp>
        <p:nvGrpSpPr>
          <p:cNvPr id="10" name="Group 9"/>
          <p:cNvGrpSpPr/>
          <p:nvPr/>
        </p:nvGrpSpPr>
        <p:grpSpPr>
          <a:xfrm>
            <a:off x="1833113" y="326366"/>
            <a:ext cx="8520019" cy="6363731"/>
            <a:chOff x="1915065" y="326366"/>
            <a:chExt cx="8520019" cy="6363731"/>
          </a:xfrm>
        </p:grpSpPr>
        <p:sp>
          <p:nvSpPr>
            <p:cNvPr id="4" name="Rectangle: Rounded Corners 3"/>
            <p:cNvSpPr/>
            <p:nvPr/>
          </p:nvSpPr>
          <p:spPr>
            <a:xfrm>
              <a:off x="1915065" y="329722"/>
              <a:ext cx="8520019" cy="6320284"/>
            </a:xfrm>
            <a:prstGeom prst="roundRect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err="1"/>
                <a:t>hhhhjhj</a:t>
              </a:r>
              <a:endParaRPr lang="en-GB" err="1"/>
            </a:p>
          </p:txBody>
        </p:sp>
        <p:sp>
          <p:nvSpPr>
            <p:cNvPr id="5" name="Rectangle: Rounded Corners 4"/>
            <p:cNvSpPr/>
            <p:nvPr/>
          </p:nvSpPr>
          <p:spPr>
            <a:xfrm>
              <a:off x="2511248" y="1753721"/>
              <a:ext cx="7154171" cy="4508735"/>
            </a:xfrm>
            <a:prstGeom prst="roundRect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Graphic 6" descr="Bullseye with solid fill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351255" y="326366"/>
              <a:ext cx="1446361" cy="1403229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752146" y="2082159"/>
              <a:ext cx="1046672" cy="72226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algn="l"/>
              <a:r>
                <a:rPr lang="en-GB" sz="4000" dirty="0">
                  <a:solidFill>
                    <a:schemeClr val="bg1"/>
                  </a:solidFill>
                  <a:latin typeface="Comic Sans MS" panose="030F0702030302020204"/>
                </a:rPr>
                <a:t>01</a:t>
              </a:r>
              <a:endParaRPr lang="en-GB" sz="4000" dirty="0">
                <a:solidFill>
                  <a:schemeClr val="bg1"/>
                </a:solidFill>
                <a:latin typeface="Comic Sans MS" panose="030F0702030302020204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1603" y="2696554"/>
              <a:ext cx="6625086" cy="5847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r>
                <a:rPr lang="en-GB" sz="3200">
                  <a:solidFill>
                    <a:schemeClr val="bg1"/>
                  </a:solidFill>
                  <a:latin typeface="Aptos ExtraBold"/>
                  <a:ea typeface="+mn-lt"/>
                  <a:cs typeface="+mn-lt"/>
                </a:rPr>
                <a:t>Overall Business Performance</a:t>
              </a:r>
              <a:endParaRPr lang="en-US" sz="3200">
                <a:solidFill>
                  <a:schemeClr val="bg1"/>
                </a:solidFill>
                <a:latin typeface="Aptos ExtraBold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762691" y="3212222"/>
              <a:ext cx="6826367" cy="34778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r>
                <a:rPr lang="en-GB" sz="2000" b="1">
                  <a:solidFill>
                    <a:schemeClr val="bg1"/>
                  </a:solidFill>
                  <a:ea typeface="+mn-lt"/>
                  <a:cs typeface="+mn-lt"/>
                </a:rPr>
                <a:t>Key Points:</a:t>
              </a:r>
              <a:endParaRPr lang="en-US" sz="200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/>
                <a:buChar char="•"/>
              </a:pPr>
              <a:r>
                <a:rPr lang="en-GB" sz="2000">
                  <a:solidFill>
                    <a:schemeClr val="bg1"/>
                  </a:solidFill>
                  <a:ea typeface="+mn-lt"/>
                  <a:cs typeface="+mn-lt"/>
                </a:rPr>
                <a:t>Total Items Sold: </a:t>
              </a:r>
              <a:r>
                <a:rPr lang="en-GB" sz="2000" b="1">
                  <a:solidFill>
                    <a:schemeClr val="bg1"/>
                  </a:solidFill>
                  <a:ea typeface="+mn-lt"/>
                  <a:cs typeface="+mn-lt"/>
                </a:rPr>
                <a:t>1.3 Million</a:t>
              </a:r>
              <a:endParaRPr lang="en-US" sz="2000" b="1">
                <a:solidFill>
                  <a:schemeClr val="bg1"/>
                </a:solidFill>
                <a:ea typeface="+mn-lt"/>
                <a:cs typeface="+mn-lt"/>
              </a:endParaRPr>
            </a:p>
            <a:p>
              <a:pPr marL="285750" indent="-285750">
                <a:buFont typeface="Arial" panose="020B0604020202020204"/>
                <a:buChar char="•"/>
              </a:pPr>
              <a:r>
                <a:rPr lang="en-GB" sz="2000">
                  <a:solidFill>
                    <a:schemeClr val="bg1"/>
                  </a:solidFill>
                  <a:ea typeface="+mn-lt"/>
                  <a:cs typeface="+mn-lt"/>
                </a:rPr>
                <a:t>Total Revenue: </a:t>
              </a:r>
              <a:r>
                <a:rPr lang="en-GB" sz="2000" b="1">
                  <a:solidFill>
                    <a:schemeClr val="bg1"/>
                  </a:solidFill>
                  <a:ea typeface="+mn-lt"/>
                  <a:cs typeface="+mn-lt"/>
                </a:rPr>
                <a:t>85M</a:t>
              </a:r>
              <a:r>
                <a:rPr lang="en-GB" sz="2000">
                  <a:solidFill>
                    <a:schemeClr val="bg1"/>
                  </a:solidFill>
                  <a:ea typeface="+mn-lt"/>
                  <a:cs typeface="+mn-lt"/>
                </a:rPr>
                <a:t>, Total Cost: </a:t>
              </a:r>
              <a:r>
                <a:rPr lang="en-GB" sz="2000" b="1">
                  <a:solidFill>
                    <a:schemeClr val="bg1"/>
                  </a:solidFill>
                  <a:ea typeface="+mn-lt"/>
                  <a:cs typeface="+mn-lt"/>
                </a:rPr>
                <a:t>53M</a:t>
              </a:r>
              <a:r>
                <a:rPr lang="en-GB" sz="2000">
                  <a:solidFill>
                    <a:schemeClr val="bg1"/>
                  </a:solidFill>
                  <a:ea typeface="+mn-lt"/>
                  <a:cs typeface="+mn-lt"/>
                </a:rPr>
                <a:t>, Total Profit: </a:t>
              </a:r>
              <a:r>
                <a:rPr lang="en-GB" sz="2000" b="1">
                  <a:solidFill>
                    <a:schemeClr val="bg1"/>
                  </a:solidFill>
                  <a:ea typeface="+mn-lt"/>
                  <a:cs typeface="+mn-lt"/>
                </a:rPr>
                <a:t>32M</a:t>
              </a:r>
              <a:endParaRPr lang="en-GB" sz="2000" b="1">
                <a:solidFill>
                  <a:schemeClr val="bg1"/>
                </a:solidFill>
                <a:ea typeface="+mn-lt"/>
                <a:cs typeface="+mn-lt"/>
              </a:endParaRPr>
            </a:p>
            <a:p>
              <a:pPr marL="285750" indent="-285750">
                <a:buFont typeface="Arial" panose="020B0604020202020204"/>
                <a:buChar char="•"/>
              </a:pPr>
              <a:r>
                <a:rPr lang="en-GB" sz="2000" b="1">
                  <a:solidFill>
                    <a:schemeClr val="bg1"/>
                  </a:solidFill>
                  <a:ea typeface="+mn-lt"/>
                  <a:cs typeface="+mn-lt"/>
                </a:rPr>
                <a:t>Peak Year:</a:t>
              </a:r>
              <a:r>
                <a:rPr lang="en-GB" sz="2000">
                  <a:solidFill>
                    <a:schemeClr val="bg1"/>
                  </a:solidFill>
                  <a:ea typeface="+mn-lt"/>
                  <a:cs typeface="+mn-lt"/>
                </a:rPr>
                <a:t> 2015 → 290k units, 20M Revenue, 8M Profit</a:t>
              </a:r>
              <a:endParaRPr lang="en-GB" sz="2000">
                <a:solidFill>
                  <a:schemeClr val="bg1"/>
                </a:solidFill>
              </a:endParaRPr>
            </a:p>
            <a:p>
              <a:r>
                <a:rPr lang="en-GB" sz="2000" b="1">
                  <a:solidFill>
                    <a:schemeClr val="bg1"/>
                  </a:solidFill>
                  <a:ea typeface="+mn-lt"/>
                  <a:cs typeface="+mn-lt"/>
                </a:rPr>
                <a:t>Insights:</a:t>
              </a:r>
              <a:endParaRPr lang="en-GB" sz="200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/>
                <a:buChar char="•"/>
              </a:pPr>
              <a:r>
                <a:rPr lang="en-GB" sz="2000">
                  <a:solidFill>
                    <a:schemeClr val="bg1"/>
                  </a:solidFill>
                  <a:ea typeface="+mn-lt"/>
                  <a:cs typeface="+mn-lt"/>
                </a:rPr>
                <a:t>2015 contributed significantly to overall performance (~25% of total profit).</a:t>
              </a:r>
              <a:endParaRPr lang="en-GB" sz="200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/>
                <a:buChar char="•"/>
              </a:pPr>
              <a:r>
                <a:rPr lang="en-GB" sz="2000" dirty="0">
                  <a:solidFill>
                    <a:schemeClr val="bg1"/>
                  </a:solidFill>
                  <a:ea typeface="+mn-lt"/>
                  <a:cs typeface="+mn-lt"/>
                </a:rPr>
                <a:t>Revenue and profit trends indicate strong growth in 2014–2015.</a:t>
              </a:r>
              <a:endParaRPr lang="en-GB" sz="2000">
                <a:solidFill>
                  <a:schemeClr val="bg1"/>
                </a:solidFill>
              </a:endParaRPr>
            </a:p>
            <a:p>
              <a:endParaRPr lang="en-GB" sz="2000" dirty="0">
                <a:solidFill>
                  <a:schemeClr val="bg1"/>
                </a:solidFill>
                <a:latin typeface="Aptos Display"/>
              </a:endParaRPr>
            </a:p>
            <a:p>
              <a:endParaRPr lang="en-GB" sz="2000" b="1" dirty="0">
                <a:solidFill>
                  <a:schemeClr val="bg1"/>
                </a:solidFill>
                <a:latin typeface="Aptos Display"/>
                <a:ea typeface="Calibri" panose="020F0502020204030204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</p:nvPr>
        </p:nvSpPr>
        <p:spPr>
          <a:xfrm>
            <a:off x="3551207" y="1122363"/>
            <a:ext cx="5736567" cy="2315714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>
          <a:xfrm>
            <a:off x="3723735" y="3602038"/>
            <a:ext cx="5564038" cy="1655762"/>
          </a:xfrm>
        </p:spPr>
        <p:txBody>
          <a:bodyPr/>
          <a:lstStyle/>
          <a:p>
            <a:endParaRPr lang="en-GB"/>
          </a:p>
        </p:txBody>
      </p:sp>
      <p:grpSp>
        <p:nvGrpSpPr>
          <p:cNvPr id="10" name="Group 9"/>
          <p:cNvGrpSpPr/>
          <p:nvPr/>
        </p:nvGrpSpPr>
        <p:grpSpPr>
          <a:xfrm>
            <a:off x="1828801" y="268857"/>
            <a:ext cx="8520019" cy="6323640"/>
            <a:chOff x="1915065" y="326366"/>
            <a:chExt cx="8520019" cy="6323640"/>
          </a:xfrm>
        </p:grpSpPr>
        <p:sp>
          <p:nvSpPr>
            <p:cNvPr id="4" name="Rectangle: Rounded Corners 3"/>
            <p:cNvSpPr/>
            <p:nvPr/>
          </p:nvSpPr>
          <p:spPr>
            <a:xfrm>
              <a:off x="1915065" y="329722"/>
              <a:ext cx="8520019" cy="6320284"/>
            </a:xfrm>
            <a:prstGeom prst="roundRect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err="1"/>
                <a:t>hhhhjhj</a:t>
              </a:r>
              <a:endParaRPr lang="en-GB" err="1"/>
            </a:p>
          </p:txBody>
        </p:sp>
        <p:sp>
          <p:nvSpPr>
            <p:cNvPr id="5" name="Rectangle: Rounded Corners 4"/>
            <p:cNvSpPr/>
            <p:nvPr/>
          </p:nvSpPr>
          <p:spPr>
            <a:xfrm>
              <a:off x="2511248" y="1753721"/>
              <a:ext cx="7154171" cy="4508735"/>
            </a:xfrm>
            <a:prstGeom prst="roundRect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Graphic 6" descr="Bullseye with solid fill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351255" y="326366"/>
              <a:ext cx="1446361" cy="1403229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507732" y="1981517"/>
              <a:ext cx="1247955" cy="70788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algn="ctr"/>
              <a:r>
                <a:rPr lang="en-GB" sz="4000" dirty="0">
                  <a:solidFill>
                    <a:schemeClr val="bg1"/>
                  </a:solidFill>
                  <a:latin typeface="Comic Sans MS" panose="030F0702030302020204"/>
                </a:rPr>
                <a:t>02</a:t>
              </a:r>
              <a:endParaRPr lang="en-GB" sz="4000" dirty="0">
                <a:solidFill>
                  <a:schemeClr val="bg1"/>
                </a:solidFill>
                <a:latin typeface="Comic Sans MS" panose="030F0702030302020204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12849" y="2610289"/>
              <a:ext cx="6941387" cy="5847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r>
                <a:rPr lang="en-GB" sz="3200">
                  <a:solidFill>
                    <a:schemeClr val="bg1"/>
                  </a:solidFill>
                  <a:latin typeface="Aptos ExtraBold"/>
                  <a:ea typeface="+mn-lt"/>
                  <a:cs typeface="+mn-lt"/>
                </a:rPr>
                <a:t>Category-wise Revenue &amp; Profit</a:t>
              </a:r>
              <a:endParaRPr lang="en-US" sz="3200">
                <a:solidFill>
                  <a:schemeClr val="bg1"/>
                </a:solidFill>
                <a:latin typeface="Aptos ExtraBold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748313" y="3471014"/>
              <a:ext cx="6840744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endParaRPr lang="en-GB" sz="2000" dirty="0">
                <a:solidFill>
                  <a:schemeClr val="bg1"/>
                </a:solidFill>
                <a:latin typeface="Century Gothic" panose="020B0502020202020204"/>
                <a:ea typeface="Batang"/>
                <a:cs typeface="Angsana New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674189" y="3127075"/>
            <a:ext cx="60960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Key Points:</a:t>
            </a:r>
            <a:endParaRPr lang="en-US" b="1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Bikes: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62M Revenue (73%), 21M Profit (66%) → Primary Profit Driver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Accessories: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15M Revenue (18%), 9M Profit (28%) → High Volume (1M units)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Clothing: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8.3M Revenue (10%), 2.8M Profit (9%)</a:t>
            </a:r>
            <a:endParaRPr lang="en-US">
              <a:solidFill>
                <a:schemeClr val="bg1"/>
              </a:solidFill>
            </a:endParaRPr>
          </a:p>
          <a:p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Insights: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Bikes generate high revenue and profit.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Accessories are volume leaders with strong margins (~60%).</a:t>
            </a:r>
            <a:endParaRPr lang="en-US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</p:nvPr>
        </p:nvSpPr>
        <p:spPr>
          <a:xfrm>
            <a:off x="3551207" y="1122363"/>
            <a:ext cx="5736567" cy="2315714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>
          <a:xfrm>
            <a:off x="3723735" y="3602038"/>
            <a:ext cx="5564038" cy="1655762"/>
          </a:xfrm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/>
          <p:cNvSpPr/>
          <p:nvPr/>
        </p:nvSpPr>
        <p:spPr>
          <a:xfrm>
            <a:off x="1915065" y="329722"/>
            <a:ext cx="8520019" cy="6320284"/>
          </a:xfrm>
          <a:prstGeom prst="roundRect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err="1"/>
              <a:t>hhhhjhj</a:t>
            </a:r>
            <a:endParaRPr lang="en-GB" err="1"/>
          </a:p>
        </p:txBody>
      </p:sp>
      <p:sp>
        <p:nvSpPr>
          <p:cNvPr id="5" name="Rectangle: Rounded Corners 4"/>
          <p:cNvSpPr/>
          <p:nvPr/>
        </p:nvSpPr>
        <p:spPr>
          <a:xfrm>
            <a:off x="2511248" y="1753721"/>
            <a:ext cx="7154171" cy="4508735"/>
          </a:xfrm>
          <a:prstGeom prst="roundRect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 descr="Bullseye with solid fi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1255" y="326366"/>
            <a:ext cx="1446361" cy="1403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80260" y="2067782"/>
            <a:ext cx="1046672" cy="7222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sz="4000" dirty="0">
                <a:solidFill>
                  <a:schemeClr val="bg1"/>
                </a:solidFill>
                <a:latin typeface="Comic Sans MS" panose="030F0702030302020204"/>
              </a:rPr>
              <a:t>03</a:t>
            </a:r>
            <a:endParaRPr lang="en-GB" sz="4000" dirty="0">
              <a:solidFill>
                <a:schemeClr val="bg1"/>
              </a:solidFill>
              <a:latin typeface="Comic Sans MS" panose="030F07020303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26585" y="2639044"/>
            <a:ext cx="666821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sz="3200">
                <a:solidFill>
                  <a:schemeClr val="bg1"/>
                </a:solidFill>
                <a:latin typeface="Aptos ExtraBold"/>
                <a:ea typeface="+mn-lt"/>
                <a:cs typeface="+mn-lt"/>
              </a:rPr>
              <a:t>Volume vs Profit Analysis</a:t>
            </a:r>
            <a:endParaRPr lang="en-US">
              <a:solidFill>
                <a:schemeClr val="bg1"/>
              </a:solidFill>
              <a:latin typeface="Aptos ExtraBold"/>
              <a:ea typeface="+mn-lt"/>
              <a:cs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47671" y="3068447"/>
            <a:ext cx="6869498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b="1">
                <a:solidFill>
                  <a:schemeClr val="bg1"/>
                </a:solidFill>
                <a:ea typeface="+mn-lt"/>
                <a:cs typeface="+mn-lt"/>
              </a:rPr>
              <a:t>Key Points: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GB" b="1">
                <a:solidFill>
                  <a:schemeClr val="bg1"/>
                </a:solidFill>
                <a:ea typeface="+mn-lt"/>
                <a:cs typeface="+mn-lt"/>
              </a:rPr>
              <a:t>Accessories lead in quantity:</a:t>
            </a:r>
            <a:r>
              <a:rPr lang="en-GB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GB" b="1">
                <a:solidFill>
                  <a:schemeClr val="bg1"/>
                </a:solidFill>
                <a:ea typeface="+mn-lt"/>
                <a:cs typeface="+mn-lt"/>
              </a:rPr>
              <a:t>1M units → 77% of total sales</a:t>
            </a:r>
            <a:endParaRPr lang="en-GB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GB">
                <a:solidFill>
                  <a:schemeClr val="bg1"/>
                </a:solidFill>
                <a:ea typeface="+mn-lt"/>
                <a:cs typeface="+mn-lt"/>
              </a:rPr>
              <a:t>Bikes lead in revenue and profit contribution</a:t>
            </a:r>
            <a:endParaRPr lang="en-GB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GB" dirty="0">
                <a:solidFill>
                  <a:schemeClr val="bg1"/>
                </a:solidFill>
                <a:ea typeface="+mn-lt"/>
                <a:cs typeface="+mn-lt"/>
              </a:rPr>
              <a:t>Clothing has smaller share but maintains moderate margin (~34%)</a:t>
            </a:r>
            <a:endParaRPr lang="en-GB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GB" b="1">
                <a:solidFill>
                  <a:schemeClr val="bg1"/>
                </a:solidFill>
                <a:ea typeface="+mn-lt"/>
                <a:cs typeface="+mn-lt"/>
              </a:rPr>
              <a:t>Insights:</a:t>
            </a:r>
            <a:endParaRPr lang="en-GB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GB">
                <a:solidFill>
                  <a:schemeClr val="bg1"/>
                </a:solidFill>
                <a:ea typeface="+mn-lt"/>
                <a:cs typeface="+mn-lt"/>
              </a:rPr>
              <a:t>High-volume, high-margin products (Accessories) are ideal for bundling and promotions.</a:t>
            </a:r>
            <a:endParaRPr lang="en-GB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GB">
                <a:solidFill>
                  <a:schemeClr val="bg1"/>
                </a:solidFill>
                <a:ea typeface="+mn-lt"/>
                <a:cs typeface="+mn-lt"/>
              </a:rPr>
              <a:t>Balancing volume and revenue is essential for business growth strategy.</a:t>
            </a:r>
            <a:endParaRPr lang="en-GB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GB" dirty="0">
              <a:solidFill>
                <a:schemeClr val="bg1"/>
              </a:solidFill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</p:nvPr>
        </p:nvSpPr>
        <p:spPr>
          <a:xfrm>
            <a:off x="3551207" y="1122363"/>
            <a:ext cx="5736567" cy="2315714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>
          <a:xfrm>
            <a:off x="3723735" y="3602038"/>
            <a:ext cx="5564038" cy="1655762"/>
          </a:xfrm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/>
          <p:cNvSpPr/>
          <p:nvPr/>
        </p:nvSpPr>
        <p:spPr>
          <a:xfrm>
            <a:off x="1915065" y="329722"/>
            <a:ext cx="8520019" cy="6320284"/>
          </a:xfrm>
          <a:prstGeom prst="roundRect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err="1"/>
              <a:t>hhhhjhj</a:t>
            </a:r>
            <a:endParaRPr lang="en-GB" err="1"/>
          </a:p>
        </p:txBody>
      </p:sp>
      <p:sp>
        <p:nvSpPr>
          <p:cNvPr id="5" name="Rectangle: Rounded Corners 4"/>
          <p:cNvSpPr/>
          <p:nvPr/>
        </p:nvSpPr>
        <p:spPr>
          <a:xfrm>
            <a:off x="2511248" y="1753721"/>
            <a:ext cx="7154171" cy="4508735"/>
          </a:xfrm>
          <a:prstGeom prst="roundRect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 descr="Bullseye with solid fi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1255" y="326366"/>
            <a:ext cx="1446361" cy="1403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95278" y="2139668"/>
            <a:ext cx="1046672" cy="7222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sz="4000" dirty="0">
                <a:solidFill>
                  <a:schemeClr val="bg1"/>
                </a:solidFill>
                <a:latin typeface="Comic Sans MS" panose="030F0702030302020204"/>
              </a:rPr>
              <a:t>04</a:t>
            </a:r>
            <a:endParaRPr lang="en-GB" sz="4000" dirty="0">
              <a:solidFill>
                <a:schemeClr val="bg1"/>
              </a:solidFill>
              <a:latin typeface="Comic Sans MS" panose="030F07020303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55981" y="2725308"/>
            <a:ext cx="666821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sz="3200">
                <a:solidFill>
                  <a:schemeClr val="bg1"/>
                </a:solidFill>
                <a:latin typeface="Aptos ExtraBold"/>
                <a:ea typeface="+mn-lt"/>
                <a:cs typeface="+mn-lt"/>
              </a:rPr>
              <a:t>Top Performing Products</a:t>
            </a:r>
            <a:endParaRPr lang="en-US">
              <a:solidFill>
                <a:schemeClr val="bg1"/>
              </a:solidFill>
              <a:latin typeface="Aptos Extra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91445" y="3298485"/>
            <a:ext cx="6826367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sz="2000" b="1">
                <a:solidFill>
                  <a:schemeClr val="bg1"/>
                </a:solidFill>
                <a:ea typeface="+mn-lt"/>
                <a:cs typeface="+mn-lt"/>
              </a:rPr>
              <a:t>Key Points:</a:t>
            </a:r>
            <a:br>
              <a:rPr lang="en-GB" sz="2000" b="1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GB" sz="2000" b="1">
                <a:solidFill>
                  <a:schemeClr val="bg1"/>
                </a:solidFill>
                <a:ea typeface="+mn-lt"/>
                <a:cs typeface="+mn-lt"/>
              </a:rPr>
              <a:t> Accessories:</a:t>
            </a: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 Sport-100 Helmet (Red, Black, Blue)</a:t>
            </a:r>
            <a:b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GB" sz="2000" b="1">
                <a:solidFill>
                  <a:schemeClr val="bg1"/>
                </a:solidFill>
                <a:ea typeface="+mn-lt"/>
                <a:cs typeface="+mn-lt"/>
              </a:rPr>
              <a:t>Bikes:</a:t>
            </a: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 Mountain-200 Black, Road-150 Red, Mountain-200 Silver</a:t>
            </a:r>
            <a:endParaRPr lang="en-US">
              <a:solidFill>
                <a:schemeClr val="bg1"/>
              </a:solidFill>
            </a:endParaRPr>
          </a:p>
          <a:p>
            <a:r>
              <a:rPr lang="en-GB" sz="2000" b="1">
                <a:solidFill>
                  <a:schemeClr val="bg1"/>
                </a:solidFill>
                <a:ea typeface="+mn-lt"/>
                <a:cs typeface="+mn-lt"/>
              </a:rPr>
              <a:t>Insights:</a:t>
            </a:r>
            <a:endParaRPr lang="en-GB"/>
          </a:p>
          <a:p>
            <a:pPr marL="285750" indent="-285750">
              <a:buFont typeface="Arial" panose="020B0604020202020204"/>
              <a:buChar char="•"/>
            </a:pP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Top 3 products in each category contribute a significant portion of revenue and profit.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Focused marketing and inventory management for these products can maximize ROI.</a:t>
            </a:r>
            <a:endParaRPr lang="en-GB"/>
          </a:p>
          <a:p>
            <a:endParaRPr lang="en-GB" sz="2000" dirty="0">
              <a:solidFill>
                <a:schemeClr val="bg1"/>
              </a:solidFill>
              <a:latin typeface="Aptos"/>
              <a:ea typeface="Batang"/>
              <a:cs typeface="Angsana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</p:nvPr>
        </p:nvSpPr>
        <p:spPr>
          <a:xfrm>
            <a:off x="3551207" y="1122363"/>
            <a:ext cx="5736567" cy="2315714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>
          <a:xfrm>
            <a:off x="3723735" y="3602038"/>
            <a:ext cx="5564038" cy="1655762"/>
          </a:xfrm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/>
          <p:cNvSpPr/>
          <p:nvPr/>
        </p:nvSpPr>
        <p:spPr>
          <a:xfrm>
            <a:off x="1915065" y="329722"/>
            <a:ext cx="8520019" cy="6320284"/>
          </a:xfrm>
          <a:prstGeom prst="roundRect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err="1"/>
              <a:t>hhhhjhj</a:t>
            </a:r>
            <a:endParaRPr lang="en-GB" err="1"/>
          </a:p>
        </p:txBody>
      </p:sp>
      <p:sp>
        <p:nvSpPr>
          <p:cNvPr id="5" name="Rectangle: Rounded Corners 4"/>
          <p:cNvSpPr/>
          <p:nvPr/>
        </p:nvSpPr>
        <p:spPr>
          <a:xfrm>
            <a:off x="2511248" y="1753721"/>
            <a:ext cx="7154171" cy="4508735"/>
          </a:xfrm>
          <a:prstGeom prst="roundRect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 descr="Bullseye with solid fi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1255" y="326366"/>
            <a:ext cx="1446361" cy="1403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52146" y="2125291"/>
            <a:ext cx="1046672" cy="7222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sz="4000" dirty="0">
                <a:solidFill>
                  <a:schemeClr val="bg1"/>
                </a:solidFill>
                <a:latin typeface="Comic Sans MS" panose="030F0702030302020204"/>
              </a:rPr>
              <a:t>05</a:t>
            </a:r>
            <a:endParaRPr lang="en-GB" sz="4000" dirty="0">
              <a:solidFill>
                <a:schemeClr val="bg1"/>
              </a:solidFill>
              <a:latin typeface="Comic Sans MS" panose="030F07020303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55981" y="2710930"/>
            <a:ext cx="666821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sz="3200">
                <a:solidFill>
                  <a:schemeClr val="bg1"/>
                </a:solidFill>
                <a:latin typeface="Aptos ExtraBold"/>
                <a:ea typeface="+mn-lt"/>
                <a:cs typeface="+mn-lt"/>
              </a:rPr>
              <a:t>Key Insights</a:t>
            </a:r>
            <a:endParaRPr lang="en-US">
              <a:solidFill>
                <a:schemeClr val="bg1"/>
              </a:solidFill>
              <a:latin typeface="Aptos Extra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8314" y="3284108"/>
            <a:ext cx="686949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sz="2000" b="1">
                <a:solidFill>
                  <a:schemeClr val="bg1"/>
                </a:solidFill>
                <a:ea typeface="+mn-lt"/>
                <a:cs typeface="+mn-lt"/>
              </a:rPr>
              <a:t>Insights: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Bikes are the primary profit driver → prioritize production and marketing efforts</a:t>
            </a:r>
            <a:endParaRPr lang="en-GB"/>
          </a:p>
          <a:p>
            <a:pPr marL="285750" indent="-285750">
              <a:buFont typeface="Arial" panose="020B0604020202020204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Accessories have high volume and margin → ideal for bundling with bikes</a:t>
            </a:r>
            <a:endParaRPr lang="en-GB"/>
          </a:p>
          <a:p>
            <a:pPr marL="285750" indent="-285750">
              <a:buFont typeface="Arial" panose="020B0604020202020204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Lessons from peak years (2014–2015) can guide current growth strategies</a:t>
            </a:r>
            <a:endParaRPr lang="en-GB"/>
          </a:p>
          <a:p>
            <a:pPr marL="285750" indent="-285750">
              <a:buFont typeface="Arial" panose="020B0604020202020204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Focus on high-margin products for sustainable profitability</a:t>
            </a:r>
            <a:endParaRPr lang="en-GB"/>
          </a:p>
          <a:p>
            <a:endParaRPr lang="en-GB" sz="2000" dirty="0">
              <a:solidFill>
                <a:schemeClr val="bg1"/>
              </a:solidFill>
              <a:latin typeface="Aptos"/>
              <a:ea typeface="Batang"/>
              <a:cs typeface="Angsana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</p:nvPr>
        </p:nvSpPr>
        <p:spPr>
          <a:xfrm>
            <a:off x="3551207" y="1122363"/>
            <a:ext cx="5736567" cy="2315714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>
          <a:xfrm>
            <a:off x="3723735" y="3602038"/>
            <a:ext cx="5564038" cy="1655762"/>
          </a:xfrm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/>
          <p:cNvSpPr/>
          <p:nvPr/>
        </p:nvSpPr>
        <p:spPr>
          <a:xfrm>
            <a:off x="1915065" y="329722"/>
            <a:ext cx="8520019" cy="6320284"/>
          </a:xfrm>
          <a:prstGeom prst="roundRect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err="1"/>
              <a:t>hhhhjhj</a:t>
            </a:r>
            <a:endParaRPr lang="en-GB" err="1"/>
          </a:p>
        </p:txBody>
      </p:sp>
      <p:sp>
        <p:nvSpPr>
          <p:cNvPr id="5" name="Rectangle: Rounded Corners 4"/>
          <p:cNvSpPr/>
          <p:nvPr/>
        </p:nvSpPr>
        <p:spPr>
          <a:xfrm>
            <a:off x="2511248" y="1753721"/>
            <a:ext cx="7154171" cy="4508735"/>
          </a:xfrm>
          <a:prstGeom prst="roundRect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 descr="Bullseye with solid fi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1255" y="326366"/>
            <a:ext cx="1446361" cy="1403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95278" y="2139668"/>
            <a:ext cx="1046672" cy="7222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sz="4000" dirty="0">
                <a:solidFill>
                  <a:schemeClr val="bg1"/>
                </a:solidFill>
                <a:latin typeface="Comic Sans MS" panose="030F0702030302020204"/>
              </a:rPr>
              <a:t>06</a:t>
            </a:r>
            <a:endParaRPr lang="en-GB" sz="4000" dirty="0">
              <a:solidFill>
                <a:schemeClr val="bg1"/>
              </a:solidFill>
              <a:latin typeface="Comic Sans MS" panose="030F07020303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70358" y="2854704"/>
            <a:ext cx="666821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sz="3200">
                <a:solidFill>
                  <a:schemeClr val="bg1"/>
                </a:solidFill>
                <a:latin typeface="Aptos ExtraBold"/>
                <a:ea typeface="+mn-lt"/>
                <a:cs typeface="+mn-lt"/>
              </a:rPr>
              <a:t>Strategic Recommendations</a:t>
            </a:r>
            <a:endParaRPr lang="en-US">
              <a:solidFill>
                <a:schemeClr val="bg1"/>
              </a:solidFill>
              <a:latin typeface="Aptos Extra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91445" y="3499769"/>
            <a:ext cx="6869498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sz="2000" b="1">
                <a:solidFill>
                  <a:schemeClr val="bg1"/>
                </a:solidFill>
                <a:ea typeface="+mn-lt"/>
                <a:cs typeface="+mn-lt"/>
              </a:rPr>
              <a:t>Recommendations:</a:t>
            </a:r>
            <a:endParaRPr lang="en-US" sz="2000"/>
          </a:p>
          <a:p>
            <a:pPr marL="285750" indent="-285750">
              <a:buFont typeface="Arial" panose="020B0604020202020204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Increase marketing campaigns for Bikes</a:t>
            </a:r>
            <a:endParaRPr lang="en-GB" sz="2000"/>
          </a:p>
          <a:p>
            <a:pPr marL="285750" indent="-285750">
              <a:buFont typeface="Arial" panose="020B0604020202020204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Offer bundled packages (Bikes + Accessories)</a:t>
            </a:r>
            <a:endParaRPr lang="en-GB" sz="2000"/>
          </a:p>
          <a:p>
            <a:pPr marL="285750" indent="-285750">
              <a:buFont typeface="Arial" panose="020B0604020202020204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Monitor top products closely for inventory optimization</a:t>
            </a:r>
            <a:endParaRPr lang="en-GB" sz="2000"/>
          </a:p>
          <a:p>
            <a:pPr marL="285750" indent="-285750">
              <a:buFont typeface="Arial" panose="020B0604020202020204"/>
              <a:buChar char="•"/>
            </a:pPr>
            <a:r>
              <a:rPr lang="en-GB" sz="2000">
                <a:solidFill>
                  <a:schemeClr val="bg1"/>
                </a:solidFill>
                <a:ea typeface="+mn-lt"/>
                <a:cs typeface="+mn-lt"/>
              </a:rPr>
              <a:t>Replicate successful peak-year strategies with current data trends</a:t>
            </a:r>
            <a:endParaRPr lang="en-GB" sz="2000"/>
          </a:p>
          <a:p>
            <a:endParaRPr lang="en-GB" sz="2000" b="1" dirty="0">
              <a:solidFill>
                <a:schemeClr val="bg1"/>
              </a:solidFill>
              <a:latin typeface="Aptos"/>
              <a:ea typeface="Batang"/>
              <a:cs typeface="Angsana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1944</Words>
  <Application>WPS Presentation</Application>
  <PresentationFormat>Widescreen</PresentationFormat>
  <Paragraphs>84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5" baseType="lpstr">
      <vt:lpstr>Arial</vt:lpstr>
      <vt:lpstr>SimSun</vt:lpstr>
      <vt:lpstr>Wingdings</vt:lpstr>
      <vt:lpstr>Comic Sans MS</vt:lpstr>
      <vt:lpstr>Aptos ExtraBold</vt:lpstr>
      <vt:lpstr>Franklin Gothic Demi</vt:lpstr>
      <vt:lpstr>Arial</vt:lpstr>
      <vt:lpstr>Aptos Display</vt:lpstr>
      <vt:lpstr>Calibri</vt:lpstr>
      <vt:lpstr>Century Gothic</vt:lpstr>
      <vt:lpstr>Batang</vt:lpstr>
      <vt:lpstr>Angsana New</vt:lpstr>
      <vt:lpstr>Aptos</vt:lpstr>
      <vt:lpstr>Segoe UI</vt:lpstr>
      <vt:lpstr>Microsoft YaHei</vt:lpstr>
      <vt:lpstr>Arial Unicode MS</vt:lpstr>
      <vt:lpstr>Constantia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anasaftab anasaftab</cp:lastModifiedBy>
  <cp:revision>634</cp:revision>
  <dcterms:created xsi:type="dcterms:W3CDTF">2026-02-26T06:42:00Z</dcterms:created>
  <dcterms:modified xsi:type="dcterms:W3CDTF">2026-03-13T10:16:03Z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BFEA89C24B774367975F4EF21D064EB0_12</vt:lpwstr>
  </property>
  <property fmtid="{D5CDD505-2E9C-101B-9397-08002B2CF9AE}" pid="3" name="KSOProductBuildVer">
    <vt:lpwstr>2057-12.2.0.23196</vt:lpwstr>
  </property>
</Properties>
</file>